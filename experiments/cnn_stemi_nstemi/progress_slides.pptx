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2e0115588de4bf3" Type="http://schemas.openxmlformats.org/officeDocument/2006/relationships/officeDocument" Target="ppt/presentation.xml"/><Relationship Id="R58eabc2a94ba40f6" Type="http://schemas.openxmlformats.org/package/2006/relationships/metadata/core-properties" Target="docProps/core.xml"/><Relationship Id="Re4c7ba6285954e5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4f7dc4b61242ba"/>
  </p:sldMasterIdLst>
  <p:notesMasterIdLst>
    <p:notesMasterId xmlns:r="http://schemas.openxmlformats.org/officeDocument/2006/relationships" r:id="R10dca41512c74d58"/>
  </p:notesMasterIdLst>
  <p:sldIdLst>
    <p:sldId xmlns:r="http://schemas.openxmlformats.org/officeDocument/2006/relationships" id="256" r:id="R6429cd1382e94b0d"/>
    <p:sldId xmlns:r="http://schemas.openxmlformats.org/officeDocument/2006/relationships" id="257" r:id="R32ecdf98fe7543eb"/>
    <p:sldId xmlns:r="http://schemas.openxmlformats.org/officeDocument/2006/relationships" id="258" r:id="R3e9c38c26b764d0a"/>
    <p:sldId xmlns:r="http://schemas.openxmlformats.org/officeDocument/2006/relationships" id="259" r:id="R4792cff2aea24cdf"/>
    <p:sldId xmlns:r="http://schemas.openxmlformats.org/officeDocument/2006/relationships" id="260" r:id="Rc8f8e3e4898b4b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0dca41512c74d58" Type="http://schemas.openxmlformats.org/officeDocument/2006/relationships/notesMaster" Target="notesMasters/notesMaster1.xml"/><Relationship Id="R1b4f7dc4b61242ba" Type="http://schemas.openxmlformats.org/officeDocument/2006/relationships/slideMaster" Target="slideMasters/slideMaster1.xml"/><Relationship Id="R32ecdf98fe7543eb" Type="http://schemas.openxmlformats.org/officeDocument/2006/relationships/slide" Target="slides/slide2.xml"/><Relationship Id="R3e9c38c26b764d0a" Type="http://schemas.openxmlformats.org/officeDocument/2006/relationships/slide" Target="slides/slide3.xml"/><Relationship Id="R4792cff2aea24cdf" Type="http://schemas.openxmlformats.org/officeDocument/2006/relationships/slide" Target="slides/slide4.xml"/><Relationship Id="R6429cd1382e94b0d" Type="http://schemas.openxmlformats.org/officeDocument/2006/relationships/slide" Target="slides/slide1.xml"/><Relationship Id="R658e4c52e588463c" Type="http://schemas.openxmlformats.org/officeDocument/2006/relationships/presProps" Target="presProps.xml"/><Relationship Id="Rb98e2b9a035b4676" Type="http://schemas.openxmlformats.org/officeDocument/2006/relationships/tableStyles" Target="tableStyles.xml"/><Relationship Id="Rc8f8e3e4898b4b66" Type="http://schemas.openxmlformats.org/officeDocument/2006/relationships/slide" Target="slides/slide5.xml"/><Relationship Id="Re5867448e0a947c4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b04a2d9c06df449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3ae6c2a7d4d4564" Type="http://schemas.openxmlformats.org/officeDocument/2006/relationships/notesMaster" Target="../notesMasters/notesMaster1.xml"/><Relationship Id="Rb4a3a2a1826245a9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bc1ba357b98a4d6e" Type="http://schemas.openxmlformats.org/officeDocument/2006/relationships/slide" Target="../slides/slide2.xml"/><Relationship Id="Rf2f19d5af6c94b9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84b974e888234416" Type="http://schemas.openxmlformats.org/officeDocument/2006/relationships/slide" Target="../slides/slide3.xml"/><Relationship Id="Re93477d6ec0d44a5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7d0bbebde2a24a68" Type="http://schemas.openxmlformats.org/officeDocument/2006/relationships/notesMaster" Target="../notesMasters/notesMaster1.xml"/><Relationship Id="Rf3a5cde69dac4f5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cd41088e5db4769" Type="http://schemas.openxmlformats.org/officeDocument/2006/relationships/slide" Target="../slides/slide5.xml"/><Relationship Id="Rfc8a2a1340bd45b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Du et al. ACS ECG dataset, Figshare article 29925314 v1. Experiment implementation and results: https://github.com/Bearior/EKG-MI-TEST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split uses one ECG per patient to avoid patient overlap. Processing settings come from the repository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counts and model settings come from the experiment report and saved training artifacts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figure generated by the repository pipeline on the untouched test partition. Threshold 0.612 was selected on validation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results support continued model development, not clinical deployment. Repository: https://github.com/Bearior/EKG-MI-TEST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d863778b43a40a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2a630fc64cb46ef" Type="http://schemas.openxmlformats.org/officeDocument/2006/relationships/slideLayout" Target="../slideLayouts/slideLayout1.xml"/><Relationship Id="Rda927d43c4dd497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a630fc64cb46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2d3a6fb3db1487b" Type="http://schemas.openxmlformats.org/officeDocument/2006/relationships/slideLayout" Target="../slideLayouts/slideLayout1.xml"/><Relationship Id="R6c3da8aa5f8b4f8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2f53ad22c49a4306" Type="http://schemas.openxmlformats.org/officeDocument/2006/relationships/image" Target="../media/image.png"/><Relationship Id="R89a3cc8bfcb446b5" Type="http://schemas.openxmlformats.org/officeDocument/2006/relationships/slideLayout" Target="../slideLayouts/slideLayout1.xml"/><Relationship Id="Rbd9aff68253e4fa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a6b4c6f847d64454" Type="http://schemas.openxmlformats.org/officeDocument/2006/relationships/slideLayout" Target="../slideLayouts/slideLayout1.xml"/><Relationship Id="Raabfcb13637b48c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17f1c849cca45f5" Type="http://schemas.openxmlformats.org/officeDocument/2006/relationships/notesSlide" Target="../notesSlides/notesSlide4.xml"/><Relationship Id="R1f69f213b4dc4950" Type="http://schemas.openxmlformats.org/officeDocument/2006/relationships/image" Target="../media/image2.png"/><Relationship Id="R3a4a58d7f6554e5f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298eb4c357b54ae4" Type="http://schemas.openxmlformats.org/officeDocument/2006/relationships/notesSlide" Target="../notesSlides/notesSlide5.xml"/><Relationship Id="R2aa626ff09724403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906D9-9B35-43D4-8616-0411D93E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EXPERIMENT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9C6EF-7F0C-48CA-B0F5-D582CA99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F1F1F"/>
                </a:solidFill>
                <a:latin typeface="Aptos"/>
              </a:rPr>
              <a:t>STEMI vs NSTEMI | 1D CNN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C2D44-0C42-42D7-8ADF-BE529FC7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4F498-7A20-4FD2-AB76-7B3C1FEE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Clinical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608C7-C8E1-410E-AE04-6CAE1711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5191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F1F1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F1F1F"/>
                </a:solidFill>
                <a:latin typeface="Aptos"/>
                <a:ea typeface="Aptos"/>
                <a:cs typeface="Aptos"/>
              </a:rPr>
              <a:t>Can a 12-lead ECG distinguish STEMI from NSTEMI among patients already diagnosed with acute myocardial infarction?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A1390-1215-496F-BA2D-9E08760E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04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Open dataset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04C8E-22B6-4879-9023-FB2BDCF7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1F1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1F1F"/>
                </a:solidFill>
                <a:latin typeface="Aptos"/>
                <a:ea typeface="Aptos"/>
                <a:cs typeface="Aptos"/>
              </a:rPr>
              <a:t>Du et al. ACS ECG dataset</a:t>
            </a:r>
          </a:p>
          <a:p xmlns:a="http://schemas.openxmlformats.org/drawingml/2006/main">
            <a:pPr algn="l">
              <a:defRPr sz="1800" b="0">
                <a:solidFill>
                  <a:srgbClr val="1F1F1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1F1F"/>
                </a:solidFill>
                <a:latin typeface="Aptos"/>
                <a:ea typeface="Aptos"/>
                <a:cs typeface="Aptos"/>
              </a:rPr>
              <a:t>Figshare article 29925314 v1</a:t>
            </a:r>
          </a:p>
          <a:p xmlns:a="http://schemas.openxmlformats.org/drawingml/2006/main">
            <a:pPr algn="l">
              <a:defRPr sz="1800" b="0">
                <a:solidFill>
                  <a:srgbClr val="1F1F1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F1F1F"/>
                </a:solidFill>
                <a:latin typeface="Aptos"/>
                <a:ea typeface="Aptos"/>
                <a:cs typeface="Aptos"/>
              </a:rPr>
              <a:t>CC0 public-domain license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8B122-3174-4B6D-88A9-15227D2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2,618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30F999-75DC-4A40-AAD1-4AEC9FD4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570"/>
                </a:solidFill>
                <a:latin typeface="Aptos"/>
                <a:ea typeface="Aptos"/>
                <a:cs typeface="Aptos"/>
              </a:rPr>
              <a:t>patients</a:t>
            </a:r>
          </a:p>
          <a:p xmlns:a="http://schemas.openxmlformats.org/drawingml/2006/main">
            <a:pPr algn="l">
              <a:defRPr sz="1425" b="0">
                <a:solidFill>
                  <a:srgbClr val="5B65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570"/>
                </a:solidFill>
                <a:latin typeface="Aptos"/>
                <a:ea typeface="Aptos"/>
                <a:cs typeface="Aptos"/>
              </a:rPr>
              <a:t>one ECG per patient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B16CF0-108B-48DB-9943-C91E3024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528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1,420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833CF7-C570-4352-B814-C3363BCD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570"/>
                </a:solidFill>
                <a:latin typeface="Aptos"/>
                <a:ea typeface="Aptos"/>
                <a:cs typeface="Aptos"/>
              </a:rPr>
              <a:t>STEMI</a:t>
            </a:r>
          </a:p>
          <a:p xmlns:a="http://schemas.openxmlformats.org/drawingml/2006/main">
            <a:pPr algn="l">
              <a:defRPr sz="1425" b="0">
                <a:solidFill>
                  <a:srgbClr val="5B65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570"/>
                </a:solidFill>
                <a:latin typeface="Aptos"/>
                <a:ea typeface="Aptos"/>
                <a:cs typeface="Aptos"/>
              </a:rPr>
              <a:t>54.2%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33BF6-EC93-4D8F-9F6E-89BAF5E2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528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1,198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307F2-7983-4E08-9FF0-7B4A12A0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570"/>
                </a:solidFill>
                <a:latin typeface="Aptos"/>
                <a:ea typeface="Aptos"/>
                <a:cs typeface="Aptos"/>
              </a:rPr>
              <a:t>NSTEMI</a:t>
            </a:r>
          </a:p>
          <a:p xmlns:a="http://schemas.openxmlformats.org/drawingml/2006/main">
            <a:pPr algn="l">
              <a:defRPr sz="1425" b="0">
                <a:solidFill>
                  <a:srgbClr val="5B65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570"/>
                </a:solidFill>
                <a:latin typeface="Aptos"/>
                <a:ea typeface="Aptos"/>
                <a:cs typeface="Aptos"/>
              </a:rPr>
              <a:t>45.8%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6627B-0363-4D5B-88AC-C6F0FE44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528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86824"/>
          </a:bodyPr>
          <a:lstStyle xmlns:a="http://schemas.openxmlformats.org/drawingml/2006/main"/>
          <a:p xmlns:a="http://schemas.openxmlformats.org/drawingml/2006/main">
            <a:r>
              <a:rPr sz="2325" b="1">
                <a:solidFill>
                  <a:srgbClr val="1F4E79"/>
                </a:solidFill>
                <a:latin typeface="Aptos"/>
              </a:rPr>
              <a:t>Raw ECG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A0C00F-217E-4647-BA68-CFED2581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433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5B6570"/>
                </a:solidFill>
                <a:latin typeface="Aptos"/>
              </a:rPr>
              <a:t>The CNN reads the 12-lead waveform directly; no clinical fields enter the model.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B2E6D-B800-43CA-9C8D-AF43E6B9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839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1F1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F1F1F"/>
                </a:solidFill>
                <a:latin typeface="Aptos"/>
                <a:ea typeface="Aptos"/>
                <a:cs typeface="Aptos"/>
              </a:rPr>
              <a:t>Scope: subtype classification within an MI cohort. This experiment does not test MI detection in a general population.</a:t>
            </a:r>
          </a:p>
        </p:txBody>
      </p:sp>
    </p:spTree>
    <p:extLst>
      <p:ext uri="{BB962C8B-B14F-4D97-AF65-F5344CB8AC3E}">
        <p14:creationId xmlns:p14="http://schemas.microsoft.com/office/powerpoint/2010/main" val="95790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B2044-CFA8-4C01-9CBB-91ECC477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DATA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B43ED-9DF4-41FA-88DF-23F5EB07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1F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F1F1F"/>
                </a:solidFill>
                <a:latin typeface="Aptos"/>
                <a:ea typeface="Aptos"/>
                <a:cs typeface="Aptos"/>
              </a:rPr>
              <a:t>Cohort construction and ECG 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E69AE-2E8D-40EA-BB00-0476DA1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76763-1D7B-473C-B376-140754E4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Patient-level split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04850" y="4438650"/>
          <a:ext xmlns:a="http://schemas.openxmlformats.org/drawingml/2006/main" cx="6191250" cy="156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428750"/>
                <a:gridCol w="1428750"/>
                <a:gridCol w="1524000"/>
              </a:tblGrid>
              <a:tr h="390525">
                <a:tc>
                  <a:txBody>
                    <a:bodyPr/>
                    <a:lstStyle/>
                    <a:p>
                      <a:r>
                        <a:t>Split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STEMI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NSTEMI</a:t>
                      </a:r>
                    </a:p>
                  </a:txBody>
                  <a:tcPr marL="91440" marR="91440" marT="45720" marB="45720"/>
                </a:tc>
              </a:tr>
              <a:tr h="390525">
                <a:tc>
                  <a:txBody>
                    <a:bodyPr/>
                    <a:lstStyle/>
                    <a:p>
                      <a:r>
                        <a:t>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1,570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718</a:t>
                      </a:r>
                    </a:p>
                  </a:txBody>
                  <a:tcPr marL="91440" marR="91440" marT="45720" marB="45720"/>
                </a:tc>
              </a:tr>
              <a:tr h="390525">
                <a:tc>
                  <a:txBody>
                    <a:bodyPr/>
                    <a:lstStyle/>
                    <a:p>
                      <a:r>
                        <a:t>Validation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 marL="91440" marR="91440" marT="45720" marB="45720"/>
                </a:tc>
              </a:tr>
              <a:tr h="390525"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284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0CF6F-A2D9-4AF2-A5B5-02DE7DFB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Signal preparation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DD517-7A48-4884-9C48-E4527780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38650"/>
            <a:ext cx="3905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E262E"/>
                </a:solidFill>
                <a:latin typeface="Aptos"/>
              </a:rPr>
              <a:t>1  Median-center each lead</a:t>
            </a:r>
          </a:p>
          <a:p xmlns:a="http://schemas.openxmlformats.org/drawingml/2006/main">
            <a:r>
              <a:rPr sz="1500">
                <a:solidFill>
                  <a:srgbClr val="1E262E"/>
                </a:solidFill>
                <a:latin typeface="Aptos"/>
              </a:rPr>
              <a:t>2  Bandpass filter, 0.5 to 40 Hz</a:t>
            </a:r>
          </a:p>
          <a:p xmlns:a="http://schemas.openxmlformats.org/drawingml/2006/main">
            <a:r>
              <a:rPr sz="1500">
                <a:solidFill>
                  <a:srgbClr val="1E262E"/>
                </a:solidFill>
                <a:latin typeface="Aptos"/>
              </a:rPr>
              <a:t>3  Resample 500 Hz to 100 Hz</a:t>
            </a:r>
          </a:p>
          <a:p xmlns:a="http://schemas.openxmlformats.org/drawingml/2006/main">
            <a:r>
              <a:rPr sz="1500">
                <a:solidFill>
                  <a:srgbClr val="1E262E"/>
                </a:solidFill>
                <a:latin typeface="Aptos"/>
              </a:rPr>
              <a:t>4  Feed 12 × 1000 samples into CNN</a:t>
            </a:r>
          </a:p>
        </p:txBody>
      </p:sp>
      <p:sp xmlns:a="http://schemas.openxmlformats.org/drawingml/2006/main">
        <p:nvSpPr>
          <p:cNvPr id="15" name="Rounded Rectangle 14"/>
          <p:cNvSpPr/>
          <p:nvPr/>
        </p:nvSpPr>
        <p:spPr>
          <a:xfrm>
            <a:off x="777240" y="1874519"/>
            <a:ext cx="1901952" cy="1005840"/>
          </a:xfrm>
          <a:prstGeom prst="roundRect">
            <a:avLst/>
          </a:prstGeom>
          <a:solidFill>
            <a:srgbClr val="EBF3F9"/>
          </a:solidFill>
          <a:ln>
            <a:solidFill>
              <a:srgbClr val="346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62E"/>
                </a:solidFill>
                <a:latin typeface="Aptos"/>
              </a:rPr>
              <a:t>Verified ACS data</a:t>
            </a:r>
          </a:p>
        </p:txBody>
      </p:sp>
      <p:sp xmlns:a="http://schemas.openxmlformats.org/drawingml/2006/main">
        <p:nvSpPr>
          <p:cNvPr id="16" name="Right Arrow 15"/>
          <p:cNvSpPr/>
          <p:nvPr/>
        </p:nvSpPr>
        <p:spPr>
          <a:xfrm>
            <a:off x="2743200" y="2194560"/>
            <a:ext cx="310896" cy="274320"/>
          </a:xfrm>
          <a:prstGeom prst="rightArrow">
            <a:avLst/>
          </a:prstGeom>
          <a:solidFill>
            <a:srgbClr val="346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ounded Rectangle 16"/>
          <p:cNvSpPr/>
          <p:nvPr/>
        </p:nvSpPr>
        <p:spPr>
          <a:xfrm>
            <a:off x="3108960" y="1874519"/>
            <a:ext cx="1901952" cy="1005840"/>
          </a:xfrm>
          <a:prstGeom prst="roundRect">
            <a:avLst/>
          </a:prstGeom>
          <a:solidFill>
            <a:srgbClr val="EBF3F9"/>
          </a:solidFill>
          <a:ln>
            <a:solidFill>
              <a:srgbClr val="346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62E"/>
                </a:solidFill>
                <a:latin typeface="Aptos"/>
              </a:rPr>
              <a:t>One ECG / patient</a:t>
            </a:r>
          </a:p>
        </p:txBody>
      </p:sp>
      <p:sp xmlns:a="http://schemas.openxmlformats.org/drawingml/2006/main">
        <p:nvSpPr>
          <p:cNvPr id="18" name="Right Arrow 17"/>
          <p:cNvSpPr/>
          <p:nvPr/>
        </p:nvSpPr>
        <p:spPr>
          <a:xfrm>
            <a:off x="5074920" y="2194560"/>
            <a:ext cx="310896" cy="274320"/>
          </a:xfrm>
          <a:prstGeom prst="rightArrow">
            <a:avLst/>
          </a:prstGeom>
          <a:solidFill>
            <a:srgbClr val="346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ounded Rectangle 18"/>
          <p:cNvSpPr/>
          <p:nvPr/>
        </p:nvSpPr>
        <p:spPr>
          <a:xfrm>
            <a:off x="5440679" y="1874519"/>
            <a:ext cx="1901952" cy="1005840"/>
          </a:xfrm>
          <a:prstGeom prst="roundRect">
            <a:avLst/>
          </a:prstGeom>
          <a:solidFill>
            <a:srgbClr val="EBF3F9"/>
          </a:solidFill>
          <a:ln>
            <a:solidFill>
              <a:srgbClr val="346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62E"/>
                </a:solidFill>
                <a:latin typeface="Aptos"/>
              </a:rPr>
              <a:t>12-lead signal</a:t>
            </a:r>
          </a:p>
        </p:txBody>
      </p:sp>
      <p:sp xmlns:a="http://schemas.openxmlformats.org/drawingml/2006/main">
        <p:nvSpPr>
          <p:cNvPr id="20" name="Right Arrow 19"/>
          <p:cNvSpPr/>
          <p:nvPr/>
        </p:nvSpPr>
        <p:spPr>
          <a:xfrm>
            <a:off x="7406640" y="2194560"/>
            <a:ext cx="310896" cy="274320"/>
          </a:xfrm>
          <a:prstGeom prst="rightArrow">
            <a:avLst/>
          </a:prstGeom>
          <a:solidFill>
            <a:srgbClr val="346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Rounded Rectangle 20"/>
          <p:cNvSpPr/>
          <p:nvPr/>
        </p:nvSpPr>
        <p:spPr>
          <a:xfrm>
            <a:off x="7772400" y="1874519"/>
            <a:ext cx="1901952" cy="1005840"/>
          </a:xfrm>
          <a:prstGeom prst="roundRect">
            <a:avLst/>
          </a:prstGeom>
          <a:solidFill>
            <a:srgbClr val="EBF3F9"/>
          </a:solidFill>
          <a:ln>
            <a:solidFill>
              <a:srgbClr val="346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62E"/>
                </a:solidFill>
                <a:latin typeface="Aptos"/>
              </a:rPr>
              <a:t>1D CNN</a:t>
            </a:r>
          </a:p>
        </p:txBody>
      </p:sp>
      <p:sp xmlns:a="http://schemas.openxmlformats.org/drawingml/2006/main">
        <p:nvSpPr>
          <p:cNvPr id="22" name="Right Arrow 21"/>
          <p:cNvSpPr/>
          <p:nvPr/>
        </p:nvSpPr>
        <p:spPr>
          <a:xfrm>
            <a:off x="9738360" y="2194560"/>
            <a:ext cx="310896" cy="274320"/>
          </a:xfrm>
          <a:prstGeom prst="rightArrow">
            <a:avLst/>
          </a:prstGeom>
          <a:solidFill>
            <a:srgbClr val="346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Rounded Rectangle 22"/>
          <p:cNvSpPr/>
          <p:nvPr/>
        </p:nvSpPr>
        <p:spPr>
          <a:xfrm>
            <a:off x="10104119" y="1874519"/>
            <a:ext cx="1901952" cy="1005840"/>
          </a:xfrm>
          <a:prstGeom prst="roundRect">
            <a:avLst/>
          </a:prstGeom>
          <a:solidFill>
            <a:srgbClr val="EBF3F9"/>
          </a:solidFill>
          <a:ln>
            <a:solidFill>
              <a:srgbClr val="346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>
                <a:solidFill>
                  <a:srgbClr val="1E262E"/>
                </a:solidFill>
                <a:latin typeface="Aptos"/>
              </a:rPr>
              <a:t>Held-out test</a:t>
            </a:r>
          </a:p>
        </p:txBody>
      </p:sp>
    </p:spTree>
    <p:extLst>
      <p:ext uri="{BB962C8B-B14F-4D97-AF65-F5344CB8AC3E}">
        <p14:creationId xmlns:p14="http://schemas.microsoft.com/office/powerpoint/2010/main" val="1087696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9689E-E7E4-4FDA-8206-C9076277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C4BF0-1881-4B30-8BC7-D6D9CAC6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1F1F1F"/>
                </a:solidFill>
                <a:latin typeface="Aptos"/>
              </a:rPr>
              <a:t>Raw waveform and 1D CNN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56329-21CC-433D-B7C9-452AF677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56558-8681-4F72-B4F4-86EC1545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94444"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4E79"/>
                </a:solidFill>
                <a:latin typeface="Aptos"/>
              </a:rPr>
              <a:t>Direct 12-lead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7446E7-589D-4833-AC82-0CE79C61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F4E79"/>
                </a:solidFill>
                <a:latin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39ED8-3748-4C4E-B07A-6EA56374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574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1F1F1F"/>
                </a:solidFill>
                <a:latin typeface="Aptos"/>
              </a:rPr>
              <a:t>ECG leads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22A02-94EE-4E81-B057-3E732411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95575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F4E79"/>
                </a:solidFill>
                <a:latin typeface="Aptos"/>
              </a:rPr>
              <a:t>10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F0308-23FB-4E71-AD03-16D6FA0C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527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1F1F1F"/>
                </a:solidFill>
                <a:latin typeface="Aptos"/>
              </a:rPr>
              <a:t>signal per patient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F3954-E7D7-4014-B2B1-18C66D25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F4E79"/>
                </a:solidFill>
                <a:latin typeface="Aptos"/>
              </a:rPr>
              <a:t>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1C689-6D8F-43AC-941E-999C7530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4805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1F1F1F"/>
                </a:solidFill>
                <a:latin typeface="Aptos"/>
              </a:rPr>
              <a:t>samples per second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FDAC36-DD58-4925-B61B-0ED86E13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F4E79"/>
                </a:solidFill>
                <a:latin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93EED-A30C-4830-9561-C0C58B32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433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1F1F1F"/>
                </a:solidFill>
                <a:latin typeface="Aptos"/>
              </a:rPr>
              <a:t>convolution blocks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9CC60-7420-4A10-BF90-5C07F041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8155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2550" b="1">
                <a:solidFill>
                  <a:srgbClr val="1F4E79"/>
                </a:solidFill>
                <a:latin typeface="Aptos"/>
              </a:rPr>
              <a:t>64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DD3C5-7441-4AD9-B6D9-F9D20A9E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387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1F1F1F"/>
                </a:solidFill>
                <a:latin typeface="Aptos"/>
              </a:rPr>
              <a:t>channels in final 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E2B8A-D9E3-4E13-A924-70A0CAA8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81150"/>
            <a:ext cx="0" cy="405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959AE-18B9-47A4-A748-776246F9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24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94444"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4E79"/>
                </a:solidFill>
                <a:latin typeface="Aptos"/>
              </a:rPr>
              <a:t>CNN architecture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085E45-EB26-49DC-9B0B-1F8EC0E8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62150"/>
            <a:ext cx="49530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1D convolution: 16 → 32 → 64 channels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Batch normalization + ReLU + pooling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Global average pooling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One STEMI output score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32D60-32D3-4870-9992-0C61B141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94444"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4E79"/>
                </a:solidFill>
                <a:latin typeface="Aptos"/>
              </a:rPr>
              <a:t>Training and selection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A8F8D-60CA-4CE1-9521-A902F8A8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5143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Adam, learning rate 0.001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15 epochs; batch size 64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Best epoch 14 by validation AUROC 0.837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Threshold 0.512 from validation</a:t>
            </a:r>
          </a:p>
        </p:txBody>
      </p:sp>
    </p:spTree>
    <p:extLst>
      <p:ext uri="{BB962C8B-B14F-4D97-AF65-F5344CB8AC3E}">
        <p14:creationId xmlns:p14="http://schemas.microsoft.com/office/powerpoint/2010/main" val="12360622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F5374-A41F-482D-8650-64956A3A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BB902-AA66-411F-976C-0DEA0D9E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1F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F1F1F"/>
                </a:solidFill>
                <a:latin typeface="Aptos"/>
                <a:ea typeface="Aptos"/>
                <a:cs typeface="Aptos"/>
              </a:rPr>
              <a:t>Held-out 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364DB-FB5F-44F4-9451-39026415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38B15-A5A6-42F9-8B39-8A843167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Test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3FB84-050C-4F02-9E3D-7A470E6D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1F1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F1F1F"/>
                </a:solidFill>
                <a:latin typeface="Aptos"/>
                <a:ea typeface="Aptos"/>
                <a:cs typeface="Aptos"/>
              </a:rPr>
              <a:t>n = 524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CF2DE-C358-40E1-BBFF-A52A9C70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Discrimination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92E1E-9FEB-4C7E-B692-E6D4831B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57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1F1F1F"/>
                </a:solidFill>
                <a:latin typeface="Aptos"/>
              </a:rPr>
              <a:t>AUROC  0.802</a:t>
            </a:r>
          </a:p>
          <a:p xmlns:a="http://schemas.openxmlformats.org/drawingml/2006/main">
            <a:r>
              <a:rPr sz="1650" b="0">
                <a:solidFill>
                  <a:srgbClr val="1F1F1F"/>
                </a:solidFill>
                <a:latin typeface="Aptos"/>
              </a:rPr>
              <a:t>Average precision  0.813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BD477-6397-44A0-A766-3F7C0F9F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Threshold metrics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817EC-6636-4FCB-8465-4B6E23BE4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2667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Balanced accuracy  0.745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Sensitivity  0.761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Specificity  0.729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Precision  0.769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F1 score  0.765</a:t>
            </a:r>
          </a:p>
        </p:txBody>
      </p:sp>
      <p:pic xmlns:a="http://schemas.openxmlformats.org/drawingml/2006/main" xmlns:r="http://schemas.openxmlformats.org/officeDocument/2006/relationships">
        <p:nvPicPr>
          <p:cNvPr id="12" name="Picture 11" descr="evalu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605088"/>
            <a:ext cx="790575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3144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CA6D8-5C6F-40A1-93DF-3AC2B7F0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WHAT WE LEARNED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C1C10F-9834-442B-80F5-6862D932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F1F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F1F1F"/>
                </a:solidFill>
                <a:latin typeface="Aptos"/>
                <a:ea typeface="Aptos"/>
                <a:cs typeface="Aptos"/>
              </a:rPr>
              <a:t>Interpretation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C6DA7-FDFD-4AD9-9EF4-B590ED5A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B0AE0-48B3-4408-8329-8D3C7E7C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859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94444"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F4E79"/>
                </a:solidFill>
                <a:latin typeface="Aptos"/>
              </a:rPr>
              <a:t>CNN confusion matrix at threshold 0.512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704850" y="1924050"/>
          <a:ext xmlns:a="http://schemas.openxmlformats.org/drawingml/2006/main" cx="53340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1619250"/>
              </a:tblGrid>
              <a:tr h="666750">
                <a:tc>
                  <a:txBody>
                    <a:bodyPr/>
                    <a:lstStyle/>
                    <a:p>
                      <a:r>
                        <a:t>Actual class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Predicted NSTEMI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Predicted STEMI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NSTEMI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STEMI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15A6C-5BA1-40B3-B0AA-F4576AEC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The CNN detected 216 of 284 STEMI cases, versus 160 for logistic regression. It also flagged 65 NSTEMI cases as STEMI, versus 35 before.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1B1D0-C9B5-4517-B652-F5FDE1CE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85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Limits of this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A1AC2-6AF6-4F0A-B887-A17FFE4A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57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Internal hold-out evaluation only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Angiography-selected ACS cohort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Single training seed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No external hospital validation</a:t>
            </a:r>
          </a:p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No calibration study for clinical use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9630C-D39E-4F05-817A-70CEC686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Next experiment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7E23D-0405-4D8B-B78E-8C2083E9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38650"/>
            <a:ext cx="4572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1F1F1F"/>
                </a:solidFill>
                <a:latin typeface="Aptos"/>
              </a:rPr>
              <a:t>Test the CNN on an external cohort and repeat training across several seeds. Compare sensitivity and specificity at clinically chosen thresholds.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E4739-628B-4FC9-B505-4A0DDAE1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72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github.com/Bearior/EKG-MI-TEST</a:t>
            </a:r>
          </a:p>
        </p:txBody>
      </p:sp>
    </p:spTree>
    <p:extLst>
      <p:ext uri="{BB962C8B-B14F-4D97-AF65-F5344CB8AC3E}">
        <p14:creationId xmlns:p14="http://schemas.microsoft.com/office/powerpoint/2010/main" val="1872808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2026-09-13T10:30:26.2820000Z</dcterms:created>
  <dcterms:modified xsi:type="dcterms:W3CDTF">2026-09-13T10:30:26.2820000Z</dcterms:modified>
</coreProperties>
</file>